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C107B5-5969-49BD-AD31-64BF8D6BBD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5E7C8ED-31D8-4DA5-A4F3-569740F08A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E0DA969-86D0-41C7-8612-6ED6AB404A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C419809-A256-417B-A347-236A5FC0AE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D6C1144-36FF-487E-8BAD-A0C682A2B2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F770F58-4E39-4EBC-8F38-C48145C38D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2C8BD14-87BC-48BD-A221-D5CAB405F8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A70CA94-D3D2-441C-9ED4-1E42CF9812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3345E2D-64D4-45FD-8542-8FFAC3CEB3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7DC2AC7-A06C-49F9-A04A-B5E57296ED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701C42A-780B-43F4-B0B0-120ED822AD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8BFAFA-2193-45BE-9803-4455DE732C65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695933-21D4-47EE-B12C-B8437457EE6C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84BCAE-FA30-4EB2-B866-18670912859E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7C5B5D-C18D-4D09-8AA1-C47D8D77C5F3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1CE3FC-DD58-4DD0-BE0E-8823012F0A4F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A466E4-5988-435B-ABEA-6272A18105AE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4C61CE-8B15-4406-BF23-CF8AF4B1FCE7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4F6B89-5522-44FB-99D1-87E65CB61735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0C3AE8-5986-4189-BC55-237D5128EBAA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0E0D53-8901-48BE-9048-D7921DEC8E90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54AC89-0413-4C79-9233-1A33437DBFC1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www.linkedin.com/in/hemanthgajulapalli/" TargetMode="External"/><Relationship Id="rId3" Type="http://schemas.openxmlformats.org/officeDocument/2006/relationships/image" Target="../media/image2.png"/><Relationship Id="rId4" Type="http://schemas.openxmlformats.org/officeDocument/2006/relationships/hyperlink" Target="https://www.linkedin.com/in/srihari-akula/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www.linkedin.com/in/keerthi-ramachandran-5727b718/" TargetMode="External"/><Relationship Id="rId7" Type="http://schemas.openxmlformats.org/officeDocument/2006/relationships/image" Target="../media/image4.png"/><Relationship Id="rId8" Type="http://schemas.openxmlformats.org/officeDocument/2006/relationships/hyperlink" Target="https://www.linkedin.com/in/mrinalakulablr/" TargetMode="External"/><Relationship Id="rId9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ee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"/>
          <p:cNvSpPr/>
          <p:nvPr/>
        </p:nvSpPr>
        <p:spPr>
          <a:xfrm>
            <a:off x="0" y="411480"/>
            <a:ext cx="12191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Segoe UI"/>
              </a:rPr>
              <a:t>Apex Architects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Rectangle 2"/>
          <p:cNvSpPr/>
          <p:nvPr/>
        </p:nvSpPr>
        <p:spPr>
          <a:xfrm>
            <a:off x="5730120" y="1170360"/>
            <a:ext cx="730800" cy="45000"/>
          </a:xfrm>
          <a:prstGeom prst="rect">
            <a:avLst/>
          </a:prstGeom>
          <a:solidFill>
            <a:srgbClr val="c9b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2" name="Picture 3" descr="v3_circle_0.png"/>
          <p:cNvPicPr/>
          <p:nvPr/>
        </p:nvPicPr>
        <p:blipFill>
          <a:blip r:embed="rId1"/>
          <a:stretch/>
        </p:blipFill>
        <p:spPr>
          <a:xfrm>
            <a:off x="3840840" y="1828800"/>
            <a:ext cx="1645200" cy="1645200"/>
          </a:xfrm>
          <a:prstGeom prst="rect">
            <a:avLst/>
          </a:prstGeom>
          <a:ln w="0">
            <a:noFill/>
          </a:ln>
        </p:spPr>
      </p:pic>
      <p:sp>
        <p:nvSpPr>
          <p:cNvPr id="53" name="TextBox 4"/>
          <p:cNvSpPr/>
          <p:nvPr/>
        </p:nvSpPr>
        <p:spPr>
          <a:xfrm>
            <a:off x="152640" y="3584520"/>
            <a:ext cx="2742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700" spc="-1" strike="noStrike">
                <a:solidFill>
                  <a:srgbClr val="2c3e50"/>
                </a:solidFill>
                <a:latin typeface="Segoe UI"/>
              </a:rPr>
              <a:t>Hemanth Gajulapalli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Rectangle 5"/>
          <p:cNvSpPr/>
          <p:nvPr/>
        </p:nvSpPr>
        <p:spPr>
          <a:xfrm>
            <a:off x="1368720" y="4041720"/>
            <a:ext cx="310320" cy="360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152640" y="4169520"/>
            <a:ext cx="274248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250" spc="-1" strike="noStrike">
                <a:solidFill>
                  <a:srgbClr val="6b7280"/>
                </a:solidFill>
                <a:latin typeface="Segoe UI"/>
              </a:rPr>
              <a:t>Senior Product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50" spc="-1" strike="noStrike">
                <a:solidFill>
                  <a:srgbClr val="6b7280"/>
                </a:solidFill>
                <a:latin typeface="Segoe UI"/>
              </a:rPr>
              <a:t>Architect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Rounded Rectangle 7"/>
          <p:cNvSpPr/>
          <p:nvPr/>
        </p:nvSpPr>
        <p:spPr>
          <a:xfrm>
            <a:off x="848160" y="5029200"/>
            <a:ext cx="218880" cy="218880"/>
          </a:xfrm>
          <a:prstGeom prst="roundRect">
            <a:avLst>
              <a:gd name="adj" fmla="val 25000"/>
            </a:avLst>
          </a:prstGeom>
          <a:solidFill>
            <a:srgbClr val="3d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700" spc="-1" strike="noStrike">
                <a:solidFill>
                  <a:srgbClr val="edf1f5"/>
                </a:solidFill>
                <a:latin typeface="Segoe UI"/>
              </a:rPr>
              <a:t>in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Box 8"/>
          <p:cNvSpPr/>
          <p:nvPr/>
        </p:nvSpPr>
        <p:spPr>
          <a:xfrm>
            <a:off x="1030680" y="5010840"/>
            <a:ext cx="1261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000" spc="-1" strike="noStrike" u="sng">
                <a:solidFill>
                  <a:srgbClr val="9454c3"/>
                </a:solidFill>
                <a:uFillTx/>
                <a:latin typeface="Segoe UI"/>
                <a:hlinkClick r:id="rId2"/>
              </a:rPr>
              <a:t>hemanthgajulapalli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Picture 9" descr="v3_circle_1.png"/>
          <p:cNvPicPr/>
          <p:nvPr/>
        </p:nvPicPr>
        <p:blipFill>
          <a:blip r:embed="rId3"/>
          <a:stretch/>
        </p:blipFill>
        <p:spPr>
          <a:xfrm>
            <a:off x="9784440" y="1828800"/>
            <a:ext cx="1645200" cy="1645200"/>
          </a:xfrm>
          <a:prstGeom prst="rect">
            <a:avLst/>
          </a:prstGeom>
          <a:ln w="0">
            <a:noFill/>
          </a:ln>
        </p:spPr>
      </p:pic>
      <p:sp>
        <p:nvSpPr>
          <p:cNvPr id="59" name="TextBox 10"/>
          <p:cNvSpPr/>
          <p:nvPr/>
        </p:nvSpPr>
        <p:spPr>
          <a:xfrm>
            <a:off x="3200400" y="3584520"/>
            <a:ext cx="2742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700" spc="-1" strike="noStrike">
                <a:solidFill>
                  <a:srgbClr val="2c3e50"/>
                </a:solidFill>
                <a:latin typeface="Segoe UI"/>
              </a:rPr>
              <a:t>SriHari Akula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ectangle 11"/>
          <p:cNvSpPr/>
          <p:nvPr/>
        </p:nvSpPr>
        <p:spPr>
          <a:xfrm>
            <a:off x="4416480" y="4041720"/>
            <a:ext cx="310320" cy="36000"/>
          </a:xfrm>
          <a:prstGeom prst="rect">
            <a:avLst/>
          </a:prstGeom>
          <a:solidFill>
            <a:srgbClr val="6e8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TextBox 12"/>
          <p:cNvSpPr/>
          <p:nvPr/>
        </p:nvSpPr>
        <p:spPr>
          <a:xfrm>
            <a:off x="3200400" y="4169520"/>
            <a:ext cx="274248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250" spc="-1" strike="noStrike">
                <a:solidFill>
                  <a:srgbClr val="6b7280"/>
                </a:solidFill>
                <a:latin typeface="Segoe UI"/>
              </a:rPr>
              <a:t>Principal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50" spc="-1" strike="noStrike">
                <a:solidFill>
                  <a:srgbClr val="6b7280"/>
                </a:solidFill>
                <a:latin typeface="Segoe UI"/>
              </a:rPr>
              <a:t>GenAI Architect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ounded Rectangle 13"/>
          <p:cNvSpPr/>
          <p:nvPr/>
        </p:nvSpPr>
        <p:spPr>
          <a:xfrm>
            <a:off x="3931920" y="5029200"/>
            <a:ext cx="218880" cy="218880"/>
          </a:xfrm>
          <a:prstGeom prst="roundRect">
            <a:avLst>
              <a:gd name="adj" fmla="val 25000"/>
            </a:avLst>
          </a:prstGeom>
          <a:solidFill>
            <a:srgbClr val="3d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700" spc="-1" strike="noStrike">
                <a:solidFill>
                  <a:srgbClr val="edf1f5"/>
                </a:solidFill>
                <a:latin typeface="Segoe UI"/>
              </a:rPr>
              <a:t>in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Box 14"/>
          <p:cNvSpPr/>
          <p:nvPr/>
        </p:nvSpPr>
        <p:spPr>
          <a:xfrm>
            <a:off x="4122360" y="5010840"/>
            <a:ext cx="884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 u="sng">
                <a:solidFill>
                  <a:srgbClr val="9454c3"/>
                </a:solidFill>
                <a:uFillTx/>
                <a:latin typeface="Segoe UI"/>
                <a:hlinkClick r:id="rId4"/>
              </a:rPr>
              <a:t>srihari-akula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Picture 15" descr="v3_circle_2.png"/>
          <p:cNvPicPr/>
          <p:nvPr/>
        </p:nvPicPr>
        <p:blipFill>
          <a:blip r:embed="rId5"/>
          <a:stretch/>
        </p:blipFill>
        <p:spPr>
          <a:xfrm>
            <a:off x="6796800" y="1783080"/>
            <a:ext cx="1645200" cy="1645200"/>
          </a:xfrm>
          <a:prstGeom prst="rect">
            <a:avLst/>
          </a:prstGeom>
          <a:ln w="0">
            <a:noFill/>
          </a:ln>
        </p:spPr>
      </p:pic>
      <p:sp>
        <p:nvSpPr>
          <p:cNvPr id="65" name="TextBox 16"/>
          <p:cNvSpPr/>
          <p:nvPr/>
        </p:nvSpPr>
        <p:spPr>
          <a:xfrm>
            <a:off x="6248160" y="3584520"/>
            <a:ext cx="2742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700" spc="-1" strike="noStrike">
                <a:solidFill>
                  <a:srgbClr val="2c3e50"/>
                </a:solidFill>
                <a:latin typeface="Segoe UI"/>
              </a:rPr>
              <a:t>Keerthi Ramachandran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ectangle 17"/>
          <p:cNvSpPr/>
          <p:nvPr/>
        </p:nvSpPr>
        <p:spPr>
          <a:xfrm>
            <a:off x="7464240" y="4041720"/>
            <a:ext cx="310320" cy="36000"/>
          </a:xfrm>
          <a:prstGeom prst="rect">
            <a:avLst/>
          </a:prstGeom>
          <a:solidFill>
            <a:srgbClr val="a6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TextBox 18"/>
          <p:cNvSpPr/>
          <p:nvPr/>
        </p:nvSpPr>
        <p:spPr>
          <a:xfrm>
            <a:off x="6248160" y="4169520"/>
            <a:ext cx="27424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250" spc="-1" strike="noStrike">
                <a:solidFill>
                  <a:srgbClr val="6b7280"/>
                </a:solidFill>
                <a:latin typeface="Segoe UI"/>
              </a:rPr>
              <a:t>Principal Engineer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ounded Rectangle 19"/>
          <p:cNvSpPr/>
          <p:nvPr/>
        </p:nvSpPr>
        <p:spPr>
          <a:xfrm>
            <a:off x="6835680" y="5029200"/>
            <a:ext cx="218880" cy="218880"/>
          </a:xfrm>
          <a:prstGeom prst="roundRect">
            <a:avLst>
              <a:gd name="adj" fmla="val 25000"/>
            </a:avLst>
          </a:prstGeom>
          <a:solidFill>
            <a:srgbClr val="3d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700" spc="-1" strike="noStrike">
                <a:solidFill>
                  <a:srgbClr val="edf1f5"/>
                </a:solidFill>
                <a:latin typeface="Segoe UI"/>
              </a:rPr>
              <a:t>in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20"/>
          <p:cNvSpPr/>
          <p:nvPr/>
        </p:nvSpPr>
        <p:spPr>
          <a:xfrm>
            <a:off x="7036920" y="5010840"/>
            <a:ext cx="1439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 u="sng">
                <a:solidFill>
                  <a:srgbClr val="9454c3"/>
                </a:solidFill>
                <a:uFillTx/>
                <a:latin typeface="Segoe UI"/>
                <a:hlinkClick r:id="rId6"/>
              </a:rPr>
              <a:t>keerthi-ramachandran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Picture 21" descr="v3_circle_3.png"/>
          <p:cNvPicPr/>
          <p:nvPr/>
        </p:nvPicPr>
        <p:blipFill>
          <a:blip r:embed="rId7"/>
          <a:stretch/>
        </p:blipFill>
        <p:spPr>
          <a:xfrm>
            <a:off x="869040" y="1828800"/>
            <a:ext cx="1645200" cy="1645200"/>
          </a:xfrm>
          <a:prstGeom prst="rect">
            <a:avLst/>
          </a:prstGeom>
          <a:ln w="0">
            <a:noFill/>
          </a:ln>
        </p:spPr>
      </p:pic>
      <p:sp>
        <p:nvSpPr>
          <p:cNvPr id="71" name="TextBox 22"/>
          <p:cNvSpPr/>
          <p:nvPr/>
        </p:nvSpPr>
        <p:spPr>
          <a:xfrm>
            <a:off x="9296640" y="3584520"/>
            <a:ext cx="2742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700" spc="-1" strike="noStrike">
                <a:solidFill>
                  <a:srgbClr val="2c3e50"/>
                </a:solidFill>
                <a:latin typeface="Segoe UI"/>
              </a:rPr>
              <a:t>Mrinal Akula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23"/>
          <p:cNvSpPr/>
          <p:nvPr/>
        </p:nvSpPr>
        <p:spPr>
          <a:xfrm>
            <a:off x="10512720" y="4041720"/>
            <a:ext cx="310320" cy="36000"/>
          </a:xfrm>
          <a:prstGeom prst="rect">
            <a:avLst/>
          </a:prstGeom>
          <a:solidFill>
            <a:srgbClr val="9e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24"/>
          <p:cNvSpPr/>
          <p:nvPr/>
        </p:nvSpPr>
        <p:spPr>
          <a:xfrm>
            <a:off x="9296640" y="4169520"/>
            <a:ext cx="274248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250" spc="-1" strike="noStrike">
                <a:solidFill>
                  <a:srgbClr val="6b7280"/>
                </a:solidFill>
                <a:latin typeface="Segoe UI"/>
              </a:rPr>
              <a:t>AI/ML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50" spc="-1" strike="noStrike">
                <a:solidFill>
                  <a:srgbClr val="6b7280"/>
                </a:solidFill>
                <a:latin typeface="Segoe UI"/>
              </a:rPr>
              <a:t>Undergrad Student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ounded Rectangle 25"/>
          <p:cNvSpPr/>
          <p:nvPr/>
        </p:nvSpPr>
        <p:spPr>
          <a:xfrm>
            <a:off x="10028160" y="5029200"/>
            <a:ext cx="218880" cy="218880"/>
          </a:xfrm>
          <a:prstGeom prst="roundRect">
            <a:avLst>
              <a:gd name="adj" fmla="val 25000"/>
            </a:avLst>
          </a:prstGeom>
          <a:solidFill>
            <a:srgbClr val="3d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700" spc="-1" strike="noStrike">
                <a:solidFill>
                  <a:srgbClr val="edf1f5"/>
                </a:solidFill>
                <a:latin typeface="Segoe UI"/>
              </a:rPr>
              <a:t>in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26"/>
          <p:cNvSpPr/>
          <p:nvPr/>
        </p:nvSpPr>
        <p:spPr>
          <a:xfrm>
            <a:off x="10307160" y="5010840"/>
            <a:ext cx="996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 u="sng">
                <a:solidFill>
                  <a:srgbClr val="9454c3"/>
                </a:solidFill>
                <a:uFillTx/>
                <a:latin typeface="Segoe UI"/>
                <a:hlinkClick r:id="rId8"/>
              </a:rPr>
              <a:t>mrinalakulablr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 27"/>
          <p:cNvSpPr/>
          <p:nvPr/>
        </p:nvSpPr>
        <p:spPr>
          <a:xfrm>
            <a:off x="457200" y="6711840"/>
            <a:ext cx="11276640" cy="176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Custom 51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bf343f"/>
      </a:accent1>
      <a:accent2>
        <a:srgbClr val="034c8c"/>
      </a:accent2>
      <a:accent3>
        <a:srgbClr val="038c7e"/>
      </a:accent3>
      <a:accent4>
        <a:srgbClr val="d9a407"/>
      </a:accent4>
      <a:accent5>
        <a:srgbClr val="8a038c"/>
      </a:accent5>
      <a:accent6>
        <a:srgbClr val="f27141"/>
      </a:accent6>
      <a:hlink>
        <a:srgbClr val="9454c3"/>
      </a:hlink>
      <a:folHlink>
        <a:srgbClr val="00000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Custom 51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bf343f"/>
      </a:accent1>
      <a:accent2>
        <a:srgbClr val="034c8c"/>
      </a:accent2>
      <a:accent3>
        <a:srgbClr val="038c7e"/>
      </a:accent3>
      <a:accent4>
        <a:srgbClr val="d9a407"/>
      </a:accent4>
      <a:accent5>
        <a:srgbClr val="8a038c"/>
      </a:accent5>
      <a:accent6>
        <a:srgbClr val="f27141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Custom 51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bf343f"/>
      </a:accent1>
      <a:accent2>
        <a:srgbClr val="034c8c"/>
      </a:accent2>
      <a:accent3>
        <a:srgbClr val="038c7e"/>
      </a:accent3>
      <a:accent4>
        <a:srgbClr val="d9a407"/>
      </a:accent4>
      <a:accent5>
        <a:srgbClr val="8a038c"/>
      </a:accent5>
      <a:accent6>
        <a:srgbClr val="f27141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Theme">
  <a:themeElements>
    <a:clrScheme name="Custom 51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bf343f"/>
      </a:accent1>
      <a:accent2>
        <a:srgbClr val="034c8c"/>
      </a:accent2>
      <a:accent3>
        <a:srgbClr val="038c7e"/>
      </a:accent3>
      <a:accent4>
        <a:srgbClr val="d9a407"/>
      </a:accent4>
      <a:accent5>
        <a:srgbClr val="8a038c"/>
      </a:accent5>
      <a:accent6>
        <a:srgbClr val="f27141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Office Theme">
  <a:themeElements>
    <a:clrScheme name="Custom 51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bf343f"/>
      </a:accent1>
      <a:accent2>
        <a:srgbClr val="034c8c"/>
      </a:accent2>
      <a:accent3>
        <a:srgbClr val="038c7e"/>
      </a:accent3>
      <a:accent4>
        <a:srgbClr val="d9a407"/>
      </a:accent4>
      <a:accent5>
        <a:srgbClr val="8a038c"/>
      </a:accent5>
      <a:accent6>
        <a:srgbClr val="f27141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Office Theme">
  <a:themeElements>
    <a:clrScheme name="Custom 51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bf343f"/>
      </a:accent1>
      <a:accent2>
        <a:srgbClr val="034c8c"/>
      </a:accent2>
      <a:accent3>
        <a:srgbClr val="038c7e"/>
      </a:accent3>
      <a:accent4>
        <a:srgbClr val="d9a407"/>
      </a:accent4>
      <a:accent5>
        <a:srgbClr val="8a038c"/>
      </a:accent5>
      <a:accent6>
        <a:srgbClr val="f27141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Office Theme">
  <a:themeElements>
    <a:clrScheme name="Custom 51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bf343f"/>
      </a:accent1>
      <a:accent2>
        <a:srgbClr val="034c8c"/>
      </a:accent2>
      <a:accent3>
        <a:srgbClr val="038c7e"/>
      </a:accent3>
      <a:accent4>
        <a:srgbClr val="d9a407"/>
      </a:accent4>
      <a:accent5>
        <a:srgbClr val="8a038c"/>
      </a:accent5>
      <a:accent6>
        <a:srgbClr val="f27141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Office Theme">
  <a:themeElements>
    <a:clrScheme name="Custom 51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bf343f"/>
      </a:accent1>
      <a:accent2>
        <a:srgbClr val="034c8c"/>
      </a:accent2>
      <a:accent3>
        <a:srgbClr val="038c7e"/>
      </a:accent3>
      <a:accent4>
        <a:srgbClr val="d9a407"/>
      </a:accent4>
      <a:accent5>
        <a:srgbClr val="8a038c"/>
      </a:accent5>
      <a:accent6>
        <a:srgbClr val="f27141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Office Theme">
  <a:themeElements>
    <a:clrScheme name="Custom 51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bf343f"/>
      </a:accent1>
      <a:accent2>
        <a:srgbClr val="034c8c"/>
      </a:accent2>
      <a:accent3>
        <a:srgbClr val="038c7e"/>
      </a:accent3>
      <a:accent4>
        <a:srgbClr val="d9a407"/>
      </a:accent4>
      <a:accent5>
        <a:srgbClr val="8a038c"/>
      </a:accent5>
      <a:accent6>
        <a:srgbClr val="f27141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_Office Theme">
  <a:themeElements>
    <a:clrScheme name="Custom 51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bf343f"/>
      </a:accent1>
      <a:accent2>
        <a:srgbClr val="034c8c"/>
      </a:accent2>
      <a:accent3>
        <a:srgbClr val="038c7e"/>
      </a:accent3>
      <a:accent4>
        <a:srgbClr val="d9a407"/>
      </a:accent4>
      <a:accent5>
        <a:srgbClr val="8a038c"/>
      </a:accent5>
      <a:accent6>
        <a:srgbClr val="f27141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1_Office Theme">
  <a:themeElements>
    <a:clrScheme name="Custom 51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bf343f"/>
      </a:accent1>
      <a:accent2>
        <a:srgbClr val="034c8c"/>
      </a:accent2>
      <a:accent3>
        <a:srgbClr val="038c7e"/>
      </a:accent3>
      <a:accent4>
        <a:srgbClr val="d9a407"/>
      </a:accent4>
      <a:accent5>
        <a:srgbClr val="8a038c"/>
      </a:accent5>
      <a:accent6>
        <a:srgbClr val="f27141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</TotalTime>
  <Application>LibreOffice/24.2.7.2$Linux_X86_64 LibreOffice_project/420$Build-2</Application>
  <AppVersion>15.0000</AppVersion>
  <Words>19</Words>
  <Paragraphs>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2021-07-01T04:52:46Z</dcterms:created>
  <dc:creator>Kavithalaya</dc:creator>
  <dc:description/>
  <dc:language>en-US</dc:language>
  <cp:lastModifiedBy/>
  <dcterms:modified xsi:type="dcterms:W3CDTF">2026-09-16T10:25:11Z</dcterms:modified>
  <cp:revision>13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